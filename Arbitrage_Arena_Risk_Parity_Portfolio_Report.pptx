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746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795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594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06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575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18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14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66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000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82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246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625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Cross-Asset Portfolio Optimization</a:t>
            </a:r>
          </a:p>
          <a:p>
            <a:r>
              <a:t>Using Risk Parity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Arbitrage Arena 2026 – Prelims Submission</a:t>
            </a:r>
          </a:p>
          <a:p>
            <a:r>
              <a:t>Tools: Python, Pandas, NumPy, Matplotlib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Selected Problem 2: Cross-Asset Portfolio Optimization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Objective:</a:t>
            </a:r>
          </a:p>
          <a:p>
            <a:r>
              <a:rPr dirty="0"/>
              <a:t>- Build a diversified portfolio across equities, index, and commodities</a:t>
            </a:r>
          </a:p>
          <a:p>
            <a:r>
              <a:rPr dirty="0"/>
              <a:t>- Maximize risk-adjusted returns</a:t>
            </a:r>
          </a:p>
          <a:p>
            <a:r>
              <a:rPr dirty="0"/>
              <a:t>- Control drawdowns during volatile regimes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Assets Used:</a:t>
            </a:r>
          </a:p>
          <a:p>
            <a:r>
              <a:rPr dirty="0"/>
              <a:t>- Equities: AAPL, MSFT, NVDA, AMZN, META, TSLA</a:t>
            </a:r>
          </a:p>
          <a:p>
            <a:r>
              <a:rPr dirty="0"/>
              <a:t>- Index: NASDAQ</a:t>
            </a:r>
          </a:p>
          <a:p>
            <a:r>
              <a:rPr dirty="0"/>
              <a:t>- Commodities: Gold, Silver, Crude Oil</a:t>
            </a:r>
          </a:p>
          <a:p>
            <a:endParaRPr dirty="0"/>
          </a:p>
          <a:p>
            <a:r>
              <a:rPr dirty="0"/>
              <a:t>Daily historical OHLC price data</a:t>
            </a:r>
          </a:p>
          <a:p>
            <a:r>
              <a:rPr dirty="0"/>
              <a:t>Time Horizon: ~11–12 years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Timestamp standardization and alignment</a:t>
            </a:r>
          </a:p>
          <a:p>
            <a:r>
              <a:t>- Numeric conversion of OHLC values</a:t>
            </a:r>
          </a:p>
          <a:p>
            <a:r>
              <a:t>- Missing value handling using forward/backward fill</a:t>
            </a:r>
          </a:p>
          <a:p>
            <a:r>
              <a:t>- OHLC price visualization for validation</a:t>
            </a:r>
          </a:p>
          <a:p>
            <a:r>
              <a:t>- Computation of daily and log returns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Price trend inspection using OHLC charts</a:t>
            </a:r>
          </a:p>
          <a:p>
            <a:r>
              <a:t>- Return distribution analysis</a:t>
            </a:r>
          </a:p>
          <a:p>
            <a:r>
              <a:t>- Volatility clustering during crisis periods</a:t>
            </a:r>
          </a:p>
          <a:p>
            <a:r>
              <a:t>- Cross-asset correlation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Rolling volatility as primary risk feature</a:t>
            </a:r>
          </a:p>
          <a:p>
            <a:r>
              <a:t>- Correlation matrix to assess diversification</a:t>
            </a:r>
          </a:p>
          <a:p>
            <a:r>
              <a:t>- Identification of low-correlation assets</a:t>
            </a:r>
          </a:p>
          <a:p>
            <a:r>
              <a:t>- Features designed for volatility-aware allocation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Risk Parity Portfolio Construction</a:t>
            </a:r>
          </a:p>
          <a:p>
            <a:endParaRPr dirty="0"/>
          </a:p>
          <a:p>
            <a:r>
              <a:rPr dirty="0"/>
              <a:t>- Focus on balancing risk contribution, not capital</a:t>
            </a:r>
          </a:p>
          <a:p>
            <a:r>
              <a:rPr dirty="0"/>
              <a:t>- No return forecasting to reduce overfitting</a:t>
            </a:r>
          </a:p>
          <a:p>
            <a:r>
              <a:rPr dirty="0"/>
              <a:t>- Robust across market regimes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Parity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Weight Formula:</a:t>
            </a:r>
          </a:p>
          <a:p>
            <a:r>
              <a:rPr dirty="0"/>
              <a:t>wᵢ = (1 / σᵢ) / Σⱼ (1 / σⱼ)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Constraints:</a:t>
            </a:r>
          </a:p>
          <a:p>
            <a:r>
              <a:rPr dirty="0"/>
              <a:t>- Fully invested (weights sum to 1)</a:t>
            </a:r>
          </a:p>
          <a:p>
            <a:r>
              <a:rPr dirty="0"/>
              <a:t>- Long-only positions</a:t>
            </a:r>
          </a:p>
          <a:p>
            <a:r>
              <a:rPr dirty="0"/>
              <a:t>- No leverage</a:t>
            </a:r>
          </a:p>
          <a:p>
            <a:r>
              <a:rPr dirty="0"/>
              <a:t>- Static allocation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Backtesting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Daily backtest on aligned dataset</a:t>
            </a:r>
          </a:p>
          <a:p>
            <a:r>
              <a:t>- Static risk parity weights</a:t>
            </a:r>
          </a:p>
          <a:p>
            <a:r>
              <a:t>- Portfolio returns as weighted sum of asset returns</a:t>
            </a:r>
          </a:p>
          <a:p>
            <a:r>
              <a:t>- Transaction costs assumed zero</a:t>
            </a:r>
          </a:p>
          <a:p>
            <a:r>
              <a:t>- Portfolio value via cumulative compounding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Annualized Return</a:t>
            </a:r>
          </a:p>
          <a:p>
            <a:r>
              <a:t>- Annualized Volatility</a:t>
            </a:r>
          </a:p>
          <a:p>
            <a:r>
              <a:t>- Sharpe Ratio</a:t>
            </a:r>
          </a:p>
          <a:p>
            <a:r>
              <a:t>- Sortino Ratio</a:t>
            </a:r>
          </a:p>
          <a:p>
            <a:r>
              <a:t>- Maximum Drawdown</a:t>
            </a:r>
          </a:p>
          <a:p>
            <a:r>
              <a:t>- Correlation Heatmap</a:t>
            </a:r>
          </a:p>
          <a:p>
            <a:r>
              <a:t>- Stress-Test Performance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Outcomes:</a:t>
            </a:r>
          </a:p>
          <a:p>
            <a:r>
              <a:t>- Sharpe Ratio ≈ 1.06</a:t>
            </a:r>
          </a:p>
          <a:p>
            <a:r>
              <a:t>- Sortino Ratio ≈ 1.34</a:t>
            </a:r>
          </a:p>
          <a:p>
            <a:r>
              <a:t>- Annualized Volatility ≈ 18%</a:t>
            </a:r>
          </a:p>
          <a:p>
            <a:r>
              <a:t>- Maximum Drawdown ≈ 31%</a:t>
            </a:r>
          </a:p>
          <a:p>
            <a:endParaRPr/>
          </a:p>
          <a:p>
            <a:r>
              <a:t>Portfolio shows stable risk-adjusted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Stress Test: COVID-19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Stress period: Feb–Apr 2020</a:t>
            </a:r>
          </a:p>
          <a:p>
            <a:r>
              <a:t>- Sharp drawdown during market crash</a:t>
            </a:r>
          </a:p>
          <a:p>
            <a:r>
              <a:t>- Gradual recovery post-crisis</a:t>
            </a:r>
          </a:p>
          <a:p>
            <a:r>
              <a:t>- Diversification helped limit downside risk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Conclusion:</a:t>
            </a:r>
          </a:p>
          <a:p>
            <a:r>
              <a:rPr dirty="0"/>
              <a:t>- Risk parity achieved balanced risk exposure</a:t>
            </a:r>
          </a:p>
          <a:p>
            <a:r>
              <a:rPr dirty="0"/>
              <a:t>- Portfolio resilient under volatile regimes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Future Improvements:</a:t>
            </a:r>
          </a:p>
          <a:p>
            <a:r>
              <a:rPr dirty="0"/>
              <a:t>- Regime-aware allocation</a:t>
            </a:r>
          </a:p>
          <a:p>
            <a:r>
              <a:rPr dirty="0"/>
              <a:t>- Periodic rebalancing</a:t>
            </a:r>
          </a:p>
          <a:p>
            <a:r>
              <a:rPr dirty="0"/>
              <a:t>- Transaction cost modeling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4</TotalTime>
  <Words>397</Words>
  <Application>Microsoft Office PowerPoint</Application>
  <PresentationFormat>On-screen Show (4:3)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Parcel</vt:lpstr>
      <vt:lpstr>Cross-Asset Portfolio Optimization Using Risk Parity</vt:lpstr>
      <vt:lpstr>Problem Statement</vt:lpstr>
      <vt:lpstr>Dataset Overview</vt:lpstr>
      <vt:lpstr>Data Preprocessing</vt:lpstr>
      <vt:lpstr>Exploratory Data Analysis</vt:lpstr>
      <vt:lpstr>Feature Engineering</vt:lpstr>
      <vt:lpstr>Model Approach</vt:lpstr>
      <vt:lpstr>Risk Parity Formulation</vt:lpstr>
      <vt:lpstr>Backtesting Framework</vt:lpstr>
      <vt:lpstr>Evaluation Metrics</vt:lpstr>
      <vt:lpstr>Backtest Results</vt:lpstr>
      <vt:lpstr>Stress Test: COVID-19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Sanskriti Dutta</dc:creator>
  <cp:keywords/>
  <dc:description>generated using python-pptx</dc:description>
  <cp:lastModifiedBy>Sanskriti Dutta</cp:lastModifiedBy>
  <cp:revision>2</cp:revision>
  <dcterms:created xsi:type="dcterms:W3CDTF">2013-01-27T09:14:16Z</dcterms:created>
  <dcterms:modified xsi:type="dcterms:W3CDTF">2025-12-23T08:46:04Z</dcterms:modified>
  <cp:category/>
</cp:coreProperties>
</file>